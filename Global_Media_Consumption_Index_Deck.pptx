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per 1,000 hours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3.56</c:v>
                </c:pt>
                <c:pt idx="1">
                  <c:v>306.69</c:v>
                </c:pt>
                <c:pt idx="2">
                  <c:v>141.93</c:v>
                </c:pt>
                <c:pt idx="3">
                  <c:v>108.97</c:v>
                </c:pt>
                <c:pt idx="4">
                  <c:v>88.57</c:v>
                </c:pt>
                <c:pt idx="5">
                  <c:v>14.45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Linear / broadcast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Sheet1!$A$2:$A$4</c:f>
              <c:strCache>
                <c:ptCount val="3"/>
                <c:pt idx="0">
                  <c:v>UK 2024</c:v>
                </c:pt>
                <c:pt idx="1">
                  <c:v>UK 2025</c:v>
                </c:pt>
                <c:pt idx="2">
                  <c:v>US 2025 (share of TV time)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111</c:v>
                </c:pt>
                <c:pt idx="2">
                  <c:v>104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Streaming / on-demand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Sheet1!$A$2:$A$4</c:f>
              <c:strCache>
                <c:ptCount val="3"/>
                <c:pt idx="0">
                  <c:v>UK 2024</c:v>
                </c:pt>
                <c:pt idx="1">
                  <c:v>UK 2025</c:v>
                </c:pt>
                <c:pt idx="2">
                  <c:v>US 2025 (share of TV time)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149</c:v>
                </c:pt>
                <c:pt idx="1">
                  <c:v>152</c:v>
                </c:pt>
                <c:pt idx="2">
                  <c:v>118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TV (linear)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104</c:v>
                </c:pt>
                <c:pt idx="2">
                  <c:v>111</c:v>
                </c:pt>
                <c:pt idx="3">
                  <c:v>217</c:v>
                </c:pt>
                <c:pt idx="4">
                  <c:v>199</c:v>
                </c:pt>
                <c:pt idx="5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Streaming video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118</c:v>
                </c:pt>
                <c:pt idx="2">
                  <c:v>152</c:v>
                </c:pt>
                <c:pt idx="3">
                  <c:v>50</c:v>
                </c:pt>
                <c:pt idx="4">
                  <c:v>55</c:v>
                </c:pt>
                <c:pt idx="5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Social &amp; short video</c:v>
                </c:pt>
              </c:strCache>
            </c:strRef>
          </c:tx>
          <c:spPr>
            <a:solidFill>
              <a:srgbClr val="D96B2B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140</c:v>
                </c:pt>
                <c:pt idx="1">
                  <c:v>136</c:v>
                </c:pt>
                <c:pt idx="2">
                  <c:v>97</c:v>
                </c:pt>
                <c:pt idx="3">
                  <c:v>50</c:v>
                </c:pt>
                <c:pt idx="4">
                  <c:v>70</c:v>
                </c:pt>
                <c:pt idx="5">
                  <c:v>229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Gaming</c:v>
                </c:pt>
              </c:strCache>
            </c:strRef>
          </c:tx>
          <c:spPr>
            <a:solidFill>
              <a:srgbClr val="8EA9DB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75</c:v>
                </c:pt>
                <c:pt idx="1">
                  <c:v>60</c:v>
                </c:pt>
                <c:pt idx="2">
                  <c:v>55</c:v>
                </c:pt>
                <c:pt idx="3">
                  <c:v>60</c:v>
                </c:pt>
                <c:pt idx="4">
                  <c:v>90</c:v>
                </c:pt>
                <c:pt idx="5">
                  <c:v>55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Music &amp; audio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45</c:v>
                </c:pt>
                <c:pt idx="1">
                  <c:v>60</c:v>
                </c:pt>
                <c:pt idx="2">
                  <c:v>55</c:v>
                </c:pt>
                <c:pt idx="3">
                  <c:v>40</c:v>
                </c:pt>
                <c:pt idx="4">
                  <c:v>50</c:v>
                </c:pt>
                <c:pt idx="5">
                  <c:v>70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Gaming (USD bn)</c:v>
                </c:pt>
              </c:strCache>
            </c:strRef>
          </c:tx>
          <c:spPr>
            <a:solidFill>
              <a:srgbClr val="D96B2B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49.6</c:v>
                </c:pt>
                <c:pt idx="2">
                  <c:v>6.8</c:v>
                </c:pt>
                <c:pt idx="3">
                  <c:v>17.6</c:v>
                </c:pt>
                <c:pt idx="4">
                  <c:v>8.3</c:v>
                </c:pt>
                <c:pt idx="5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Live events (USD bn)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  <c:pt idx="5">
                  <c:v>Brazil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1.55</c:v>
                </c:pt>
                <c:pt idx="1">
                  <c:v>12.6</c:v>
                </c:pt>
                <c:pt idx="2">
                  <c:v>2.5</c:v>
                </c:pt>
                <c:pt idx="3">
                  <c:v>1.5</c:v>
                </c:pt>
                <c:pt idx="4">
                  <c:v>0.6</c:v>
                </c:pt>
                <c:pt idx="5">
                  <c:v>0.8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sz="9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FC4C9"/>
                </a:solidFill>
                <a:latin typeface="Calibri"/>
              </a:rPr>
              <a:t>INDEPENDENT RESEARCH  |  MEDIA &amp; ENTERTAINMENT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Global Media Consumption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FDDE8"/>
                </a:solidFill>
                <a:latin typeface="Calibri"/>
              </a:rPr>
              <a:t>Where the world's attention is, and where the money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Six markets  ·  five time formats  ·  seven revenue formats  ·  one comparable index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India, United States, United Kingdom, Japan, South Korea, Brazil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Built from 20 published sources, Ofcom, Nielsen, eMarketer, DataReportal, Newzoo, IFPI,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Gower Street, PwC, FICCI-EY, MPA, Redseer, Pollstar, every figure dated and traceable.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[Your name]  ·  [Month Year]  ·  Companion file: Global_Media_Consumption_Index.xlsx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Attention is global. Money is local. The rest follows from that.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3593592" cy="329184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64592"/>
          <a:lstStyle/>
          <a:p>
            <a:pPr algn="ctr"/>
            <a:r>
              <a:rPr sz="3000" b="1">
                <a:solidFill>
                  <a:srgbClr val="1F6F7A"/>
                </a:solidFill>
                <a:latin typeface="Calibri"/>
              </a:rPr>
              <a:t>1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2B46"/>
                </a:solidFill>
                <a:latin typeface="Calibri"/>
              </a:rPr>
              <a:t>The gap is not audience, it is yield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1A1A1A"/>
                </a:solidFill>
                <a:latin typeface="Calibri"/>
              </a:rPr>
              <a:t>India consumes 1.23 trillion hours of smartphone screen time a year, 59% of it entertainment, and the industry earns $8.4 per person. The US earns $889. An 11x income gap becomes a ~106x revenue-per-head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1103" y="1481328"/>
            <a:ext cx="3593592" cy="329184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64592"/>
          <a:lstStyle/>
          <a:p>
            <a:pPr algn="ctr"/>
            <a:r>
              <a:rPr sz="3000" b="1">
                <a:solidFill>
                  <a:srgbClr val="D96B2B"/>
                </a:solidFill>
                <a:latin typeface="Calibri"/>
              </a:rPr>
              <a:t>2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2B46"/>
                </a:solidFill>
                <a:latin typeface="Calibri"/>
              </a:rPr>
              <a:t>The paying base is built. The price is not.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1A1A1A"/>
                </a:solidFill>
                <a:latin typeface="Calibri"/>
              </a:rPr>
              <a:t>India already has 216.5m paid OTT subscriptions, 3rd largest in the world, at $7.3 per subscription per year. The US OTT market is 51x bigger in revenue on a base only ~13% larger.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7" y="1481328"/>
            <a:ext cx="3593592" cy="329184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64592"/>
          <a:lstStyle/>
          <a:p>
            <a:pPr algn="ctr"/>
            <a:r>
              <a:rPr sz="3000" b="1">
                <a:solidFill>
                  <a:srgbClr val="1F6F7A"/>
                </a:solidFill>
                <a:latin typeface="Calibri"/>
              </a:rPr>
              <a:t>3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2B46"/>
                </a:solidFill>
                <a:latin typeface="Calibri"/>
              </a:rPr>
              <a:t>Time is migrating, not multiplying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1A1A1A"/>
                </a:solidFill>
                <a:latin typeface="Calibri"/>
              </a:rPr>
              <a:t>Total TV time in the US is flat at ~3.7h/day, but streaming passed broadcast + cable for the first time (47.3%). In the UK total in-home video fell while linear fell twice as fast. Advertisers are leaving the schedule, not the screen.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Any media investment case in a low-yield market must be built on revenue per hour of attention, not on reach, users or content volume. Those are inputs, not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FICCI-EY 2026; MPA via exchange4media, Oct-2026 (per-capita screen economy); PwC India E&amp;M Outlook 2026-30; Nielsen The Gauge 2025; Ofcom Media Nations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THE SIX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Same human behaviour, very different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Population, connectivity and GDP per capita explain part of it. The rest is product design and pricing power.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38528"/>
          <a:ext cx="11064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787"/>
                <a:gridCol w="1383030"/>
                <a:gridCol w="1383030"/>
                <a:gridCol w="1613534"/>
                <a:gridCol w="1728787"/>
                <a:gridCol w="1383030"/>
                <a:gridCol w="18440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Population (m)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Internet users (m)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GDP per capita (USD)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Screen economy (USD bn)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 capita (USD)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Digital ad spend per capita (USD)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1,450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2,703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342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90,027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305.0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892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52,000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35,951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34.0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276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430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South Korea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36,000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10,300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India's digital ad spend per head is roughly 1/125th of the US. The constraint on Indian media is not eyeballs, it is willingness and ability to pay, plus advertiser yield.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MPA screen economy via exchange4media Oct-2026; World Bank GDP per capita 2025; Redseer Apr-2026. Digital ad spend per capita is reported for India/US/China (Redseer) and estimated by the author for the other three markets; UK and Brazil screen economy also estimated. All flags in workbook sheet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FINDING 1  |  THE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One hour of American attention is worth about 86x an Indian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USD of screen revenue earned per 1,000 hours of attention. Population, currency and market size are stripped out.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38528"/>
          <a:ext cx="6949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984248"/>
            <a:ext cx="38404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Calibri"/>
              </a:rPr>
              <a:t>The maths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India:  $8.4 per person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         ÷ 2,403 hours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         =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$3.6 per 1,000 hours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US:     $892 per person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         ÷ 2,908 hours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         =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$307 per 1,000 hours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Japan and Korea sit in between, rich markets where the same hour of attention buys 30–36x an Indian hour.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85232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A streaming platform's India strategy cannot be a smaller version of its US strategy. Same content cost per hour of premium video; 1/86th the yield per hour of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MPA screen economy (TV + online video) via exchange4media Oct-2026; time from sheet '2 Time database' (5-format sum). Authors' calculation.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FINDING 1  |  INDIA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India has solved distribution and audience. It has not solved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The number of Indians willing to pay is already world-scale. What they pay is not.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38528"/>
          <a:ext cx="1106423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2386404"/>
                <a:gridCol w="4989755"/>
              </a:tblGrid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Smartphone screen time, 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1.23 trillion hours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World's largest; 59% is entertainment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Screen economy per capita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$8.4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 $889  |  Japan $283  |  Korea $253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Digital ad spend per capita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 ~$1,000  |  China ~$120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Paid OTT subscriptions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216.5 million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3rd largest base in the world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OTT ARPU per subscription per year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The single most important number here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India OTT market revenue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$2.2 billion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 OTT video is $113.3bn, 51x larger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Paid music subscriptions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14.4 million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Against 5.98 trillion music streams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News subscriptions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 million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Free alternatives dominate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Growth must come from ARPU, advertising yield and new formats, CTV, live, gaming. User acquisition is no longer the scarce input; pricing power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FICCI-EY 2026; PwC India E&amp;M Outlook 2026-30; Redseer Apr-2026; MPA Oct-2026; Ormax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FINDING 2  |  MIGRATION, NOT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Advertisers are not leaving television. They are leaving the schedule.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Total video time is broadly flat in mature markets. What changed is where inside the screen it sits.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38528"/>
          <a:ext cx="63093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86600" y="196596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United Kingdom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Total in-home video: 4h30m (2024) → 4h23m (2025)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Linear TV: 2h05m → 1h51m  (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-12% in one year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, the steepest decline on record)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Broadcaster VOD: +3 minutes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YouTube on the TV set: 9 min (2022) → 19 min (2025)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United States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Total TV time: flat at ~3.7 hours/day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Streaming: 47.3% of TV time, first time above broadcast + cable combined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Cable: below 27%, down from 35% three years earlier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85232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The fight is not TV vs digital. It is scheduled vs on-demand inside the same screen. Connected-TV inventory is the defended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Ofcom Media Nations 2026 (published Jul-2026); Nielsen The Gauge, Jul-2025. US linear shown as broadcast + cable share of TV time applied to 3.7h/day.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FINDING 3  |  FORMAT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There is no single global consumer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Minutes per person per day, by market. Japan barely does social; Brazil does almost nothing else.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38528"/>
          <a:ext cx="78638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0" y="19659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Japan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TV: 217 min/day, more than the other four formats combined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Social: ~50 min, the lowest of any major market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Brazil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Social: 229 min/day, the highest in the world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South Korea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Gaming: 90 min/day, the largest format in the country after TV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India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Social + gaming = 55% of all tracked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85232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Benchmarking a market against a global average hides the only thing that matters locally: which formats its people actually use. Build the format P&amp;L per market, not a global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Ofcom 2026; Nielsen 2025; eMarketer Asia-Pacific 2025; DataReportal Digital 2025; Lumikai 2026; Axis My India. Gaming, music and some streaming figures are estimates, see sheet '2 Time database'.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FINDING 4  |  THE GROWTH POOLS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Gaming and live are the only two formats where time and money both grow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Global games are a $188.8bn market, larger than film and recorded music combined. Live music is ~$35bn and rising.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38528"/>
          <a:ext cx="6766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96596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Why these two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No content-amortisation drag: a concert and a game session are consumed live, not licensed and re-licensed.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Cash conversion is immediate, ticket or in-app payment at the point of consumption.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Japan: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$17.6bn gaming from 74m players, the highest revenue per player of any major market.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South Korea: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gaming ($8.3bn) is the largest single format in the country, ahead of TV.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India: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organised live events grew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44% in one year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; gaming grew 17% even after real-money gaming was banned.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85232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For a portfolio allocator, gaming and live events are the only two pools where the demand curve and the willingness-to-pay curve point the same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Newzoo Global Games Market Report 2025; Lumikai Mar-2026; Pollstar 2025; FICCI-EY 2026. Live events per country are estimates except India (FICCI-EY) and US (Pollstar).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THE REVENUE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Seven revenue pools that do not line up with the audiences behind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Industry revenue in USD billion, 2025. Definitions differ by row, see sheet '3 Market size'.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38528"/>
          <a:ext cx="1106423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545"/>
                <a:gridCol w="1211797"/>
                <a:gridCol w="1211797"/>
                <a:gridCol w="1211797"/>
                <a:gridCol w="1211797"/>
                <a:gridCol w="1211797"/>
                <a:gridCol w="1211797"/>
                <a:gridCol w="1211797"/>
                <a:gridCol w="1159110"/>
              </a:tblGrid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TV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OTT video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Digital advertising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Gaming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Recorded music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Live events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Theatrical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135.0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113.3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295.0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49.6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626.7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22.0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76.9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South Korea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25.1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India's entire tracked media economy ($33bn) is smaller than the US digital-advertising pool alone ($295bn), despite comparable or larger consumption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Newzoo; IFPI; PwC (US/India/global); Gower Street; FICCI-EY; Pollstar; Redseer. Figures marked 'Estimated' in the workbook are scalability estimates by the author.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In a low-yield market the lever is yield, not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Four moves that follow from the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11064240" cy="86868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F6F7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2996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B46"/>
                </a:solidFill>
                <a:latin typeface="Calibri"/>
              </a:rPr>
              <a:t>Price for value, not for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057400"/>
            <a:ext cx="6263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India's OTT ARPU is $7.3 per year. Every $1 of ARPU added across 216.5m subscriptions is $216m of revenue, more than the entire Indian theatrical box office.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1064240" cy="86868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9923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6B2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718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B46"/>
                </a:solidFill>
                <a:latin typeface="Calibri"/>
              </a:rPr>
              <a:t>Sell connected-TV inventory, don't defend GRPs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999232"/>
            <a:ext cx="6263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Linear TV ad revenue fell 10% in India and 12% in UK viewing, while CTV advertising grew 42% to INR 99bn. Same screen, 4x the yield per impression.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2"/>
            <a:ext cx="11064240" cy="86868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4106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F6F7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1363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B46"/>
                </a:solidFill>
                <a:latin typeface="Calibri"/>
              </a:rPr>
              <a:t>Buy formats with no amortisation drag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941064"/>
            <a:ext cx="6263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Live events (+44% in India) and gaming convert cash at the point of consumption. They are also where per-capita spend is furthest below developed-market levels.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64024"/>
            <a:ext cx="11064240" cy="868680"/>
          </a:xfrm>
          <a:prstGeom prst="rect">
            <a:avLst/>
          </a:prstGeom>
          <a:solidFill>
            <a:srgbClr val="F7F9FA"/>
          </a:solidFill>
          <a:ln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828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6B2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855464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2B46"/>
                </a:solidFill>
                <a:latin typeface="Calibri"/>
              </a:rPr>
              <a:t>Localise by format, not by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882896"/>
            <a:ext cx="6263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Japan's social time is 1/5th of Brazil's. Regional language is the Indian version of this insight; format mix is the general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FICCI-EY 2026; PwC India 2026-30; Ofcom 2026; Newzoo 2025. Author's synthesis.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RISKS AND SENSITIVITIES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Three assumptions carry the argument. Two of them are weak.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Better to state them than have them found.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38528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468880"/>
                <a:gridCol w="2743200"/>
                <a:gridCol w="320040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How weak is it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would change the answer</a:t>
                      </a:r>
                    </a:p>
                  </a:txBody>
                  <a:tcPr marL="54864" marR="54864" marT="18288" marB="18288" anchor="ctr">
                    <a:solidFill>
                      <a:srgbClr val="0F2B4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Time-spent figures are comparable across countries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The entire monetisation index is per hour of attention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Weak, sources measure different devices, samples and behaviours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A single cross-market time-use study (Kantar/GWI panel) measuring all six markets identically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MPA screen economy is a like-for-like numerator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Sets the per-capita revenue for each market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Moderate, excludes gaming and publishing; used consistently so direction holds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Replacing it with total E&amp;M revenue widens the India-US gap; the ranking does not change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India's 216.5m paid OTT subscriptions are genuinely paid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Drives the 'base is built' conclusion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Moderate, bundle and telecom-included subscriptions inflate the count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Any disclosure of direct-paid vs bundled split would reset Indian ARPU maths upward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413248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1F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1F6F7A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The conclusion is robust to the numerator. It is not robust to the denominator: if India's attention is overstated, the yield gap shrinks. Fix the time data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Source: Author's assessment. Underlying sources: see sheet '12 Sources' of the companion workbook.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7A"/>
                </a:solidFill>
                <a:latin typeface="Calibri"/>
              </a:rPr>
              <a:t>METHOD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0F2B46"/>
                </a:solidFill>
                <a:latin typeface="Calibri"/>
              </a:rPr>
              <a:t>20 published sources, every figure dated, every estimate flagged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The companion workbook carries the full source register.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53949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Structure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6 markets × 5 time formats × 7 revenue formats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2020 → 2025, with 2028-2030 outlooks where published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Quality discipline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Each row tagged Reported / Derived / Estimated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Time and money are never summed across sources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Definitions recorded per revenue row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The index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USD of screen revenue per 1,000 hours of attention, the only number here that is comparable across all six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38528"/>
            <a:ext cx="53949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Primary sources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Ofcom Media Nations (UK)  ·  Nielsen The Gauge (US)  ·  eMarketer Asia-Pacific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DataReportal Digital 2025  ·  PwC Global E&amp;M Outlook  ·  PwC India Outlook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Newzoo Global Games Market Report  ·  Niko Partners  ·  Lumikai (India gaming)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IFPI Global Music Report  ·  Gower Street / Comscore (box office)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Pollstar live music  ·  FICCI-EY India M&amp;E  ·  MPA screen economy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Redseer India advertising  ·  Ormax OTT  ·  Axis My India  ·  World Bank  ·  IBEF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Companion file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Global_Media_Consumption_Index.xlsx, 13 sheets, formula-driven matrices,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source register, India deep dive, findings ledger.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ECF3F4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So what:  </a:t>
            </a:r>
            <a:r>
              <a:rPr sz="1200">
                <a:solidFill>
                  <a:srgbClr val="1A1A1A"/>
                </a:solidFill>
                <a:latin typeface="Calibri"/>
              </a:rPr>
              <a:t>All figures come from the public sources listed above. Estimates are mine and are flagged as such in the workbook.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